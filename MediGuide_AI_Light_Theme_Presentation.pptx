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302B26"/>
                </a:solidFill>
                <a:latin typeface="Aptos Display"/>
              </a:defRPr>
            </a:pPr>
            <a:r>
              <a:t>MediGuide AI</a:t>
            </a:r>
          </a:p>
          <a:p>
            <a:pPr>
              <a:defRPr sz="2100">
                <a:solidFill>
                  <a:srgbClr val="407D66"/>
                </a:solidFill>
                <a:latin typeface="Aptos"/>
              </a:defRPr>
            </a:pPr>
            <a:r>
              <a:t>AI-Powered Medical Symptom Assessment &amp; Patient Guidance Assistant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154680"/>
            <a:ext cx="3246120" cy="132588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154680"/>
            <a:ext cx="64008" cy="132588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327355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685032"/>
            <a:ext cx="286207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Python • LangChain • OpenAI • Streamlit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154680"/>
            <a:ext cx="3246120" cy="132588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3154680"/>
            <a:ext cx="64008" cy="132588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327355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3685032"/>
            <a:ext cx="286207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Structured JSON • Streaming • Caching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154680"/>
            <a:ext cx="3246120" cy="132588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3154680"/>
            <a:ext cx="64008" cy="1325880"/>
          </a:xfrm>
          <a:prstGeom prst="rect">
            <a:avLst/>
          </a:prstGeom>
          <a:solidFill>
            <a:srgbClr val="AA4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327355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3685032"/>
            <a:ext cx="286207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Safety-first educational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Problem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Why MediGuide AI is being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66360" cy="1874519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874519"/>
          </a:xfrm>
          <a:prstGeom prst="rect">
            <a:avLst/>
          </a:prstGeom>
          <a:solidFill>
            <a:srgbClr val="AA4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44752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4782312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96058"/>
                </a:solidFill>
                <a:latin typeface="Aptos"/>
              </a:defRPr>
            </a:pPr>
            <a:r>
              <a:t>People may search random websites when they have symptoms, which can create unreliable information, anxiety and confusion.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257800" cy="1874519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64008" cy="1874519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44475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856231"/>
            <a:ext cx="4873752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A Streamlit prototype collects structured patient information and uses a LangChain-powered OpenAI model to generate preliminary, safety-focused guidance.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66160"/>
            <a:ext cx="10744200" cy="132588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566160"/>
            <a:ext cx="64008" cy="132588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85032"/>
            <a:ext cx="10378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IMPORTANT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096511"/>
            <a:ext cx="1036015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96058"/>
                </a:solidFill>
                <a:latin typeface="Aptos"/>
              </a:defRPr>
            </a:pPr>
            <a:r>
              <a:t>The app is educational only. It is not a doctor, diagnosis service, emergency service or medical treatment.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What the assignment requires us to 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02B26"/>
                </a:solidFill>
                <a:latin typeface="Aptos"/>
              </a:defRPr>
            </a:pPr>
            <a:r>
              <a:t>• Integrate an OpenAI chat model with ChatOpenAI.</a:t>
            </a:r>
          </a:p>
          <a:p>
            <a:pPr>
              <a:spcAft>
                <a:spcPts val="1200"/>
              </a:spcAft>
              <a:defRPr sz="1600">
                <a:solidFill>
                  <a:srgbClr val="302B26"/>
                </a:solidFill>
                <a:latin typeface="Aptos"/>
              </a:defRPr>
            </a:pPr>
            <a:r>
              <a:t>• Create reusable PromptTemplate and ChatPromptTemplate prompts.</a:t>
            </a:r>
          </a:p>
          <a:p>
            <a:pPr>
              <a:spcAft>
                <a:spcPts val="1200"/>
              </a:spcAft>
              <a:defRPr sz="1600">
                <a:solidFill>
                  <a:srgbClr val="302B26"/>
                </a:solidFill>
                <a:latin typeface="Aptos"/>
              </a:defRPr>
            </a:pPr>
            <a:r>
              <a:t>• Work with SystemMessage, HumanMessage and AIMessage.</a:t>
            </a:r>
          </a:p>
          <a:p>
            <a:pPr>
              <a:spcAft>
                <a:spcPts val="1200"/>
              </a:spcAft>
              <a:defRPr sz="1600">
                <a:solidFill>
                  <a:srgbClr val="302B26"/>
                </a:solidFill>
                <a:latin typeface="Aptos"/>
              </a:defRPr>
            </a:pPr>
            <a:r>
              <a:t>• Request structured JSON and parse it safely.</a:t>
            </a:r>
          </a:p>
          <a:p>
            <a:pPr>
              <a:spcAft>
                <a:spcPts val="1200"/>
              </a:spcAft>
              <a:defRPr sz="1600">
                <a:solidFill>
                  <a:srgbClr val="302B26"/>
                </a:solidFill>
                <a:latin typeface="Aptos"/>
              </a:defRPr>
            </a:pPr>
            <a:r>
              <a:t>• Build a reusable LLMChain and stream the final guidance.</a:t>
            </a:r>
          </a:p>
          <a:p>
            <a:pPr>
              <a:spcAft>
                <a:spcPts val="1200"/>
              </a:spcAft>
              <a:defRPr sz="1600">
                <a:solidFill>
                  <a:srgbClr val="302B26"/>
                </a:solidFill>
                <a:latin typeface="Aptos"/>
              </a:defRPr>
            </a:pPr>
            <a:r>
              <a:t>• Demonstrate both in-memory and SQLite caching.</a:t>
            </a:r>
          </a:p>
          <a:p>
            <a:pPr>
              <a:spcAft>
                <a:spcPts val="1200"/>
              </a:spcAft>
              <a:defRPr sz="1600">
                <a:solidFill>
                  <a:srgbClr val="302B26"/>
                </a:solidFill>
                <a:latin typeface="Aptos"/>
              </a:defRPr>
            </a:pPr>
            <a:r>
              <a:t>• Create a professional, safety-first Streamlit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Modular structure required by the assignment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057400" cy="14173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41732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53312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167335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Streamlit UI</a:t>
            </a:r>
            <a:br/>
            <a:r>
              <a:t>forms +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234440"/>
            <a:ext cx="2057400" cy="14173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234440"/>
            <a:ext cx="64008" cy="141732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353312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config.py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764792"/>
            <a:ext cx="167335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API key</a:t>
            </a:r>
            <a:br/>
            <a:r>
              <a:t>form options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234440"/>
            <a:ext cx="2057400" cy="14173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234440"/>
            <a:ext cx="64008" cy="141732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3248" y="1353312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prompts.py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1764792"/>
            <a:ext cx="167335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Prompt templates</a:t>
            </a:r>
            <a:br/>
            <a:r>
              <a:t>JSON schema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234440"/>
            <a:ext cx="2057400" cy="14173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1234440"/>
            <a:ext cx="64008" cy="141732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1353312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chains.py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1764792"/>
            <a:ext cx="167335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ChatOpenAI</a:t>
            </a:r>
            <a:br/>
            <a:r>
              <a:t>LLMChain + stream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234440"/>
            <a:ext cx="1783080" cy="14173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1234440"/>
            <a:ext cx="64008" cy="141732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353312"/>
            <a:ext cx="14173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cache_manager.py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1764792"/>
            <a:ext cx="139903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96058"/>
                </a:solidFill>
                <a:latin typeface="Aptos"/>
              </a:defRPr>
            </a:pPr>
            <a:r>
              <a:t>RAM + SQLite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3246120"/>
            <a:ext cx="2057400" cy="14173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3246120"/>
            <a:ext cx="64008" cy="141732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248" y="3364991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utils.py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3776472"/>
            <a:ext cx="167335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Safe JSON parsing</a:t>
            </a:r>
            <a:br/>
            <a:r>
              <a:t>helpers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3246120"/>
            <a:ext cx="6400800" cy="14173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2080" y="3246120"/>
            <a:ext cx="64008" cy="141732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3248" y="3364991"/>
            <a:ext cx="6035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DATA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3776472"/>
            <a:ext cx="601675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96058"/>
                </a:solidFill>
                <a:latin typeface="Aptos"/>
              </a:defRPr>
            </a:pPr>
            <a:r>
              <a:t>Form input → prompt inputs → cache → LLM + chain → JSON parsing → streaming →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User Input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Information collected before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50876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PATIENT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304495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Age</a:t>
            </a:r>
            <a:br/>
            <a:r>
              <a:t>Gender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50876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SYMPTOMS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304495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Multiple symptoms</a:t>
            </a:r>
            <a:br/>
            <a:r>
              <a:t>Duration • severity 1–10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64008" cy="150876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MEDICAL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64792"/>
            <a:ext cx="304495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Existing conditions</a:t>
            </a:r>
            <a:br/>
            <a:r>
              <a:t>Current medications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342900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154680"/>
            <a:ext cx="64008" cy="150876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27355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685032"/>
            <a:ext cx="304495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Additional patient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154680"/>
            <a:ext cx="342900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154680"/>
            <a:ext cx="64008" cy="150876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27355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685032"/>
            <a:ext cx="304495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Answer language</a:t>
            </a:r>
            <a:br/>
            <a:r>
              <a:t>Selectbox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154680"/>
            <a:ext cx="342900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154680"/>
            <a:ext cx="64008" cy="150876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327355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685032"/>
            <a:ext cx="304495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Button validates input</a:t>
            </a:r>
            <a:br/>
            <a:r>
              <a:t>before calling the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LangChain Prompt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How patient input becomes an LLM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331720" cy="146304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64008" cy="146304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01952"/>
            <a:ext cx="194767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96058"/>
                </a:solidFill>
                <a:latin typeface="Aptos"/>
              </a:defRPr>
            </a:pPr>
            <a:r>
              <a:t>Collect form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371600"/>
            <a:ext cx="2331720" cy="146304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4680" y="1371600"/>
            <a:ext cx="64008" cy="146304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490472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901952"/>
            <a:ext cx="194767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96058"/>
                </a:solidFill>
                <a:latin typeface="Aptos"/>
              </a:defRPr>
            </a:pPr>
            <a:r>
              <a:t>Insert values into reusable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371600"/>
            <a:ext cx="2331720" cy="146304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1371600"/>
            <a:ext cx="64008" cy="146304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1490472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1901952"/>
            <a:ext cx="194767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System message adds role + safety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71600"/>
            <a:ext cx="3246120" cy="146304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71600"/>
            <a:ext cx="64008" cy="146304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49047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901952"/>
            <a:ext cx="286207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Human message carries patient data to the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3474720"/>
            <a:ext cx="379476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4519" y="3474720"/>
            <a:ext cx="64008" cy="150876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75688" y="3593591"/>
            <a:ext cx="3429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PromptTemplate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5688" y="4005072"/>
            <a:ext cx="341071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Reusable single-string template with variables such as age, gender and symptoms.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3474720"/>
            <a:ext cx="379476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7880" y="3474720"/>
            <a:ext cx="64008" cy="150876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3593591"/>
            <a:ext cx="3429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ChatPromptTemplate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4005072"/>
            <a:ext cx="341071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Combines system safety instructions with the human patient-data message.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Structured JSON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The exact information the model must return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8288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82880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304495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Patient symptom summary + general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82880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POSSIBLE 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304495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Educational possibilities only, each with a reason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64008" cy="1828800"/>
          </a:xfrm>
          <a:prstGeom prst="rect">
            <a:avLst/>
          </a:prstGeom>
          <a:solidFill>
            <a:srgbClr val="AA4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URGENCY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64792"/>
            <a:ext cx="304495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96058"/>
                </a:solidFill>
                <a:latin typeface="Aptos"/>
              </a:defRPr>
            </a:pPr>
            <a:r>
              <a:t>LOW • MEDIUM • HIGH • EMERGENCY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342900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29000"/>
            <a:ext cx="64008" cy="150876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5478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959352"/>
            <a:ext cx="304495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429000"/>
            <a:ext cx="342900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429000"/>
            <a:ext cx="64008" cy="150876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5478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DOCTOR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959352"/>
            <a:ext cx="304495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Questions to discuss with a professional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429000"/>
            <a:ext cx="342900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429000"/>
            <a:ext cx="64008" cy="1508760"/>
          </a:xfrm>
          <a:prstGeom prst="rect">
            <a:avLst/>
          </a:prstGeom>
          <a:solidFill>
            <a:srgbClr val="AA4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35478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WARNING SIGNS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959352"/>
            <a:ext cx="3044952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Symptoms requiring immediate attention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Safe JSON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Prevent malformed model output from crashing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429000" cy="17373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64008" cy="173736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9903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MODEL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10512"/>
            <a:ext cx="3044952" cy="111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Tell the model to return ONLY valid JSON matching the required 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429000" cy="17373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64008" cy="173736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9903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CLEAN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10512"/>
            <a:ext cx="3044952" cy="111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Remove accidental ```json fences or surrounding text before parsing.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429000" cy="17373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64008" cy="1737360"/>
          </a:xfrm>
          <a:prstGeom prst="rect">
            <a:avLst/>
          </a:prstGeom>
          <a:solidFill>
            <a:srgbClr val="AA4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9903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try / except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810512"/>
            <a:ext cx="3044952" cy="111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Use json.loads() safely. Bad JSON must not crash the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520440"/>
            <a:ext cx="8503920" cy="132588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3520440"/>
            <a:ext cx="64008" cy="132588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3639312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FAILURE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050791"/>
            <a:ext cx="811987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96058"/>
                </a:solidFill>
                <a:latin typeface="Aptos"/>
              </a:defRPr>
            </a:pPr>
            <a:r>
              <a:t>Show a friendly error and raw output for debugging if parsing fails.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Streaming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Make the response feel live instead of waiting for the full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154680" cy="16459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64592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44752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llm.stream()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277063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The model yields small pieces of the guidance as they arrive.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154680" cy="16459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325880"/>
            <a:ext cx="64008" cy="164592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444752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56231"/>
            <a:ext cx="277063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stream_narrative() yields each non-empty chunk.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325880"/>
            <a:ext cx="3154680" cy="16459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325880"/>
            <a:ext cx="64008" cy="164592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1444752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st.write_stream()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1856231"/>
            <a:ext cx="277063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96058"/>
                </a:solidFill>
                <a:latin typeface="Aptos"/>
              </a:defRPr>
            </a:pPr>
            <a:r>
              <a:t>Stream the chunks directly into the Streamlit interface.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566160"/>
            <a:ext cx="8503920" cy="12801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3566160"/>
            <a:ext cx="64008" cy="128016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3685032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096511"/>
            <a:ext cx="8119872" cy="65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96058"/>
                </a:solidFill>
                <a:latin typeface="Aptos"/>
              </a:defRPr>
            </a:pPr>
            <a:r>
              <a:t>The user sees a natural typing effect and does not have to wait for the entire narrative.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Reduce repeated API calls, cost and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92024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4475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InMemoryCache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482803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96058"/>
                </a:solidFill>
                <a:latin typeface="Aptos"/>
              </a:defRPr>
            </a:pPr>
            <a:r>
              <a:t>Stored in RAM. Fastest option, but it is lost when the application restarts. Best for one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64008" cy="192024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44475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SQLiteCache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56231"/>
            <a:ext cx="482803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96058"/>
                </a:solidFill>
                <a:latin typeface="Aptos"/>
              </a:defRPr>
            </a:pPr>
            <a:r>
              <a:t>Stored in a database file on disk. Slightly slower, but survives application restarts and can be reused across sessions.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3703320"/>
            <a:ext cx="8412480" cy="123444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20240" y="3703320"/>
            <a:ext cx="64008" cy="123444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3822191"/>
            <a:ext cx="8046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4233672"/>
            <a:ext cx="8028431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96058"/>
                </a:solidFill>
                <a:latin typeface="Aptos"/>
              </a:defRPr>
            </a:pPr>
            <a:r>
              <a:t>LangChain checks the registered cache before a model call. The same request can return much faster the second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Streamlit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Required UI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6459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64592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SIDEBAR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30449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App name, description, disclaimer, model configuration and language selection.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6459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64592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30449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text_input, text_area, selectbox, multiselect, slider and button.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64592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64008" cy="164592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64792"/>
            <a:ext cx="30449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Metrics, warnings, info, errors, success messages, expanders, tabs/columns.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10927080" cy="132588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64008" cy="132588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593591"/>
            <a:ext cx="105613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005072"/>
            <a:ext cx="105430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96058"/>
                </a:solidFill>
                <a:latin typeface="Aptos"/>
              </a:defRPr>
            </a:pPr>
            <a:r>
              <a:t>Show symptom summary, AI information, educational possible conditions, urgency, next steps, doctor questions and warning signs.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Medical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The most important requirement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8288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828800"/>
          </a:xfrm>
          <a:prstGeom prst="rect">
            <a:avLst/>
          </a:prstGeom>
          <a:solidFill>
            <a:srgbClr val="AA4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NOT A DOCTOR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304495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96058"/>
                </a:solidFill>
                <a:latin typeface="Aptos"/>
              </a:defRPr>
            </a:pPr>
            <a:r>
              <a:t>Clearly label the app as an educational AI system and never claim a confirmed diagnosis.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82880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304495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96058"/>
                </a:solidFill>
                <a:latin typeface="Aptos"/>
              </a:defRPr>
            </a:pPr>
            <a:r>
              <a:t>Show the medical disclaimer in the sidebar, main area and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64008" cy="1828800"/>
          </a:xfrm>
          <a:prstGeom prst="rect">
            <a:avLst/>
          </a:prstGeom>
          <a:solidFill>
            <a:srgbClr val="AA4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EMERGENCY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64792"/>
            <a:ext cx="304495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96058"/>
                </a:solidFill>
                <a:latin typeface="Aptos"/>
              </a:defRPr>
            </a:pPr>
            <a:r>
              <a:t>HIGH/EMERGENCY results must direct the user to seek immediate emergency help.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520440"/>
            <a:ext cx="8503920" cy="12801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3520440"/>
            <a:ext cx="64008" cy="128016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3639312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SYSTEM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050791"/>
            <a:ext cx="8119872" cy="65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96058"/>
                </a:solidFill>
                <a:latin typeface="Aptos"/>
              </a:defRPr>
            </a:pPr>
            <a:r>
              <a:t>Safety constraints are encoded in the system prompt so the model follows the same boundaries.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Testing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How we verify the application behaves correctly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6002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60020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304495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Runny nose + sore throat, mild severity → LOW and calm monitoring advice.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6002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60020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MEDIUM /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304495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Fever + cough, moderate severity → advises seeing a professional.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6002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64008" cy="1600200"/>
          </a:xfrm>
          <a:prstGeom prst="rect">
            <a:avLst/>
          </a:prstGeom>
          <a:solidFill>
            <a:srgbClr val="AA4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EMERGENCY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64792"/>
            <a:ext cx="304495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Severe chest pain + shortness of breath → urges immediate help.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37560"/>
            <a:ext cx="3429000" cy="16002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37560"/>
            <a:ext cx="64008" cy="160020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45643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CACHE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867911"/>
            <a:ext cx="304495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Same form twice with cache enabled → second run should be faster.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337560"/>
            <a:ext cx="3429000" cy="16002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337560"/>
            <a:ext cx="64008" cy="160020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45643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867911"/>
            <a:ext cx="304495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Empty symptoms → warn user and do not call the 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337560"/>
            <a:ext cx="3429000" cy="16002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337560"/>
            <a:ext cx="64008" cy="160020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345643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867911"/>
            <a:ext cx="304495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Urdu selected → guidance should be returned in Urdu.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02B26"/>
                </a:solidFill>
                <a:latin typeface="Aptos Display"/>
              </a:defRPr>
            </a:pPr>
            <a:r>
              <a:t>Evaluation &amp;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058"/>
                </a:solidFill>
                <a:latin typeface="Aptos"/>
              </a:defRPr>
            </a:pPr>
            <a:r>
              <a:t>What the finished project must demonstrate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8288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82880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100-MARK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304495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96058"/>
                </a:solidFill>
                <a:latin typeface="Aptos"/>
              </a:defRPr>
            </a:pPr>
            <a:r>
              <a:t>UI/UX 15 • ChatOpenAI 10 • PromptTemplate 10 • ChatPromptTemplate 10 • LLMChain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828800"/>
          </a:xfrm>
          <a:prstGeom prst="rect">
            <a:avLst/>
          </a:prstGeom>
          <a:solidFill>
            <a:srgbClr val="5B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MORE 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304495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JSON 10 • Streaming 10 • Caching 10 • Code quality 10 • Testing/creativity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64008" cy="1828800"/>
          </a:xfrm>
          <a:prstGeom prst="rect">
            <a:avLst/>
          </a:prstGeom>
          <a:solidFill>
            <a:srgbClr val="B1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533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64792"/>
            <a:ext cx="304495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96058"/>
                </a:solidFill>
                <a:latin typeface="Aptos"/>
              </a:defRPr>
            </a:pPr>
            <a:r>
              <a:t>Repository, requirements.txt, .env.example, README with setup + caching explanation.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10927080" cy="1280160"/>
          </a:xfrm>
          <a:prstGeom prst="roundRect">
            <a:avLst/>
          </a:prstGeom>
          <a:solidFill>
            <a:srgbClr val="FFFFFC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20440"/>
            <a:ext cx="64008" cy="1280160"/>
          </a:xfrm>
          <a:prstGeom prst="rect">
            <a:avLst/>
          </a:prstGeom>
          <a:solidFill>
            <a:srgbClr val="40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639312"/>
            <a:ext cx="105613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02B2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050791"/>
            <a:ext cx="10543032" cy="65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96058"/>
                </a:solidFill>
                <a:latin typeface="Aptos"/>
              </a:defRPr>
            </a:pPr>
            <a:r>
              <a:t>Show the working Streamlit app, streaming output and results dashboard. Run with: streamlit run app.py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08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302B26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96058"/>
                </a:solidFill>
                <a:latin typeface="Aptos"/>
              </a:defRPr>
            </a:pPr>
            <a:r>
              <a:t>MediGuide AI combines LangChain, OpenAI and Streamlit to create a structured, responsive and safety-first educational symptom-guidance prototype.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0916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5B3F2D"/>
                </a:solidFill>
                <a:latin typeface="Aptos Display"/>
              </a:defRPr>
            </a:pPr>
            <a:r>
              <a:t>Thank You  • 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058"/>
                </a:solidFill>
                <a:latin typeface="Aptos"/>
              </a:defRPr>
            </a:pPr>
            <a:r>
              <a:t>MediGuide AI  •  LangChain + Streamlit  •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